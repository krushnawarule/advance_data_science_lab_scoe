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5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5075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po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3152"/>
            <a:ext cx="786384" cy="91529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63040" y="109728"/>
            <a:ext cx="10180015" cy="731520"/>
          </a:xfrm>
          <a:prstGeom prst="rect">
            <a:avLst/>
          </a:prstGeom>
          <a:solidFill>
            <a:srgbClr val="00235F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155448"/>
            <a:ext cx="10180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D7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Sanjivani Rural Education Society's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63040" y="393192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D7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Sanjivani College of Engineering, Kopargaon-423 603</a:t>
            </a: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po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3152"/>
            <a:ext cx="786384" cy="91529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63040" y="109728"/>
            <a:ext cx="10180015" cy="731520"/>
          </a:xfrm>
          <a:prstGeom prst="rect">
            <a:avLst/>
          </a:prstGeom>
          <a:solidFill>
            <a:srgbClr val="00235F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155448"/>
            <a:ext cx="10180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D7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Sanjivani Rural Education Society's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63040" y="393192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D7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Sanjivani College of Engineering, Kopargaon-423 603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C9D3D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  |  Sanjivani College of Engineering, Kopargaon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flask.palletsprojects.com" TargetMode="External"/><Relationship Id="rId3" Type="http://schemas.openxmlformats.org/officeDocument/2006/relationships/hyperlink" Target="https://arxiv.org/abs/2110.06864" TargetMode="External"/><Relationship Id="rId7" Type="http://schemas.openxmlformats.org/officeDocument/2006/relationships/hyperlink" Target="https://docs.opencv.org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ocs.ultralytics.com/models/yolov8" TargetMode="External"/><Relationship Id="rId11" Type="http://schemas.openxmlformats.org/officeDocument/2006/relationships/hyperlink" Target="https://github.com/uday6725" TargetMode="External"/><Relationship Id="rId5" Type="http://schemas.openxmlformats.org/officeDocument/2006/relationships/hyperlink" Target="https://doi.org/10.1109/TPAMI.1986.4767851" TargetMode="External"/><Relationship Id="rId10" Type="http://schemas.openxmlformats.org/officeDocument/2006/relationships/hyperlink" Target="https://www.chartjs.org" TargetMode="External"/><Relationship Id="rId4" Type="http://schemas.openxmlformats.org/officeDocument/2006/relationships/hyperlink" Target="https://arxiv.org/abs/1907.01341" TargetMode="External"/><Relationship Id="rId9" Type="http://schemas.openxmlformats.org/officeDocument/2006/relationships/hyperlink" Target="https://pytorch.org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0876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SafePilot: Real-Time ADAS Perception Dashboard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Driver-Assistance System with an Interactive Web Dashboard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337560"/>
            <a:ext cx="1280160" cy="4572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840480"/>
          <a:ext cx="6217920" cy="1865376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No.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Uday Annasaheb Thete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0124ucsm2005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Parth Milind Kulkarni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0124ucsm2003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Mahesh Tulsiram Shinde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0124ucsm2008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Vaibhav Nitin Khandekar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0124ucsm2007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Krushna Prashant Warule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0124ucsm2011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363326" y="38404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Guide: 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S.A. Shivarkar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363326" y="4389120"/>
            <a:ext cx="45238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Data Science (PCCO411B)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430703" y="4930541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/ 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09928"/>
            <a:ext cx="1097280" cy="4572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1031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does the project address?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6675120" cy="640080"/>
          </a:xfrm>
          <a:prstGeom prst="roundRect">
            <a:avLst>
              <a:gd name="adj" fmla="val 14286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697480"/>
            <a:ext cx="64008" cy="36576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56032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driver reaction: late braking, unnoticed vehicles, lane drift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310128"/>
            <a:ext cx="6675120" cy="640080"/>
          </a:xfrm>
          <a:prstGeom prst="roundRect">
            <a:avLst>
              <a:gd name="adj" fmla="val 14286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447288"/>
            <a:ext cx="64008" cy="36576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310128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ADAS relies on expensive radar and LiDAR hardware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059936"/>
            <a:ext cx="6675120" cy="640080"/>
          </a:xfrm>
          <a:prstGeom prst="roundRect">
            <a:avLst>
              <a:gd name="adj" fmla="val 14286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4197096"/>
            <a:ext cx="64008" cy="36576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059936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 system using only a single camera is needed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809744"/>
            <a:ext cx="6675120" cy="640080"/>
          </a:xfrm>
          <a:prstGeom prst="roundRect">
            <a:avLst>
              <a:gd name="adj" fmla="val 14286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946904"/>
            <a:ext cx="64008" cy="36576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809744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version ran only from a command line, hard to demo, monitor or control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589520" y="2103120"/>
            <a:ext cx="4050792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0E8C8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18120" y="2194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important?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2697480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accidents are often caused by delayed reaction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sensors limit access to driver-assistance research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makes results easy to demonstrate, monitor and control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09928"/>
            <a:ext cx="1097280" cy="4572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103120"/>
            <a:ext cx="6675120" cy="3977640"/>
          </a:xfrm>
          <a:prstGeom prst="roundRect">
            <a:avLst>
              <a:gd name="adj" fmla="val 2299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6675120" cy="548640"/>
          </a:xfrm>
          <a:prstGeom prst="roundRect">
            <a:avLst>
              <a:gd name="adj" fmla="val 16667"/>
            </a:avLst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0312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SafePilot analyses dashcam video in real time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6126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and tracks vehicles and pedestrians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the distance of each object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collision risk using time-to-collision (TTC)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lane position and lane departure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everything on a live web dashboard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589520" y="2103120"/>
            <a:ext cx="4050792" cy="1234440"/>
          </a:xfrm>
          <a:prstGeom prst="roundRect">
            <a:avLst>
              <a:gd name="adj" fmla="val 7407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2240280"/>
            <a:ext cx="64008" cy="96012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0" y="21031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low-cost camera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AI models, no radar or LiDAR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589520" y="3474720"/>
            <a:ext cx="4050792" cy="1234440"/>
          </a:xfrm>
          <a:prstGeom prst="roundRect">
            <a:avLst>
              <a:gd name="adj" fmla="val 7407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0" y="3611880"/>
            <a:ext cx="64008" cy="96012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0" y="34747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object to lock on; thresholds adjustable live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589520" y="4846320"/>
            <a:ext cx="4050792" cy="1234440"/>
          </a:xfrm>
          <a:prstGeom prst="roundRect">
            <a:avLst>
              <a:gd name="adj" fmla="val 7407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0" y="4983480"/>
            <a:ext cx="64008" cy="96012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0" y="48463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over the command-line version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dashboard, aspect ratio preserved, TTC in real seconds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09928"/>
            <a:ext cx="1097280" cy="4572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103120"/>
            <a:ext cx="6675120" cy="530352"/>
          </a:xfrm>
          <a:prstGeom prst="roundRect">
            <a:avLst>
              <a:gd name="adj" fmla="val 17241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185416"/>
            <a:ext cx="365760" cy="36576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10312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track road users in real time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6675120" cy="530352"/>
          </a:xfrm>
          <a:prstGeom prst="roundRect">
            <a:avLst>
              <a:gd name="adj" fmla="val 17241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807208"/>
            <a:ext cx="365760" cy="36576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807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724912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distance and time-to-collision (TTC) from a single camera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346704"/>
            <a:ext cx="6675120" cy="530352"/>
          </a:xfrm>
          <a:prstGeom prst="roundRect">
            <a:avLst>
              <a:gd name="adj" fmla="val 17241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429000"/>
            <a:ext cx="365760" cy="36576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346704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collision risk as Safe, Caution, Warning or Critical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968496"/>
            <a:ext cx="6675120" cy="530352"/>
          </a:xfrm>
          <a:prstGeom prst="roundRect">
            <a:avLst>
              <a:gd name="adj" fmla="val 17241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050792"/>
            <a:ext cx="365760" cy="36576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4050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968496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lane position and lane departure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590288"/>
            <a:ext cx="6675120" cy="530352"/>
          </a:xfrm>
          <a:prstGeom prst="roundRect">
            <a:avLst>
              <a:gd name="adj" fmla="val 17241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672584"/>
            <a:ext cx="365760" cy="365760"/>
          </a:xfrm>
          <a:prstGeom prst="ellipse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4672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590288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all results in an interactive browser-based dashboard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589520" y="2103120"/>
            <a:ext cx="4050792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0E8C8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18120" y="2194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7818120" y="265176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video file, webcam, server camera or RTSP stream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from a single camera feed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demonstration prototype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intended for use in real vehicles</a:t>
            </a:r>
            <a:endParaRPr lang="en-US" sz="16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/ Working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09928"/>
            <a:ext cx="1097280" cy="4572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14884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488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Source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(file, webcam, RTSP)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20440" y="214884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21488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Engine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 + computer vision)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75120" y="214884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3C6E9E"/>
          </a:solidFill>
          <a:ln w="12700">
            <a:solidFill>
              <a:srgbClr val="3C6E9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0" y="2148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Server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464040" y="2148840"/>
            <a:ext cx="2176272" cy="1005840"/>
          </a:xfrm>
          <a:prstGeom prst="roundRect">
            <a:avLst>
              <a:gd name="adj" fmla="val 7273"/>
            </a:avLst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464040" y="2148840"/>
            <a:ext cx="2176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880360" y="2651760"/>
            <a:ext cx="594360" cy="0"/>
          </a:xfrm>
          <a:prstGeom prst="line">
            <a:avLst/>
          </a:prstGeom>
          <a:noFill/>
          <a:ln w="25400">
            <a:solidFill>
              <a:srgbClr val="14284B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2743200" y="2286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2651760"/>
            <a:ext cx="594360" cy="0"/>
          </a:xfrm>
          <a:prstGeom prst="line">
            <a:avLst/>
          </a:prstGeom>
          <a:noFill/>
          <a:ln w="25400">
            <a:solidFill>
              <a:srgbClr val="14284B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943600" y="2286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23960" y="2651760"/>
            <a:ext cx="594360" cy="0"/>
          </a:xfrm>
          <a:prstGeom prst="line">
            <a:avLst/>
          </a:prstGeom>
          <a:noFill/>
          <a:ln w="25400">
            <a:solidFill>
              <a:srgbClr val="14284B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8595360" y="3200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stream + telemetry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1764792" cy="1554480"/>
          </a:xfrm>
          <a:prstGeom prst="roundRect">
            <a:avLst>
              <a:gd name="adj" fmla="val 5882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749040"/>
            <a:ext cx="64008" cy="128016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611880"/>
            <a:ext cx="1508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Detection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finds pedestrians, cyclists and vehicles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404872" y="3611880"/>
            <a:ext cx="1764792" cy="1554480"/>
          </a:xfrm>
          <a:prstGeom prst="roundRect">
            <a:avLst>
              <a:gd name="adj" fmla="val 5882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04872" y="3749040"/>
            <a:ext cx="64008" cy="128016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587752" y="3611880"/>
            <a:ext cx="1508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Tracking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gives each object a persistent ID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261104" y="3611880"/>
            <a:ext cx="1764792" cy="1554480"/>
          </a:xfrm>
          <a:prstGeom prst="roundRect">
            <a:avLst>
              <a:gd name="adj" fmla="val 5882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61104" y="3749040"/>
            <a:ext cx="64008" cy="128016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43984" y="3611880"/>
            <a:ext cx="1508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Depth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MiDaS depth map gives per-object distance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17336" y="3611880"/>
            <a:ext cx="1764792" cy="1554480"/>
          </a:xfrm>
          <a:prstGeom prst="roundRect">
            <a:avLst>
              <a:gd name="adj" fmla="val 5882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17336" y="3749040"/>
            <a:ext cx="64008" cy="128016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00216" y="3611880"/>
            <a:ext cx="1508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Lane analysis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Canny, Hough lines and polynomial fit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973568" y="3611880"/>
            <a:ext cx="1764792" cy="1554480"/>
          </a:xfrm>
          <a:prstGeom prst="roundRect">
            <a:avLst>
              <a:gd name="adj" fmla="val 5882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73568" y="3749040"/>
            <a:ext cx="64008" cy="128016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156448" y="3611880"/>
            <a:ext cx="1508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Segmentation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road and sky overlay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829800" y="3611880"/>
            <a:ext cx="1764792" cy="1554480"/>
          </a:xfrm>
          <a:prstGeom prst="roundRect">
            <a:avLst>
              <a:gd name="adj" fmla="val 5882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29800" y="3749040"/>
            <a:ext cx="64008" cy="128016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012680" y="3611880"/>
            <a:ext cx="1508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Risk engine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TTC from closing speed and distance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48640" y="539496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53949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TTC = distance ÷ closing speed  →  Critical / Warning / Caution / Safe (thresholds adjustable live)</a:t>
            </a:r>
            <a:endParaRPr lang="en-US" sz="17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09928"/>
            <a:ext cx="1097280" cy="4572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103120"/>
            <a:ext cx="5486400" cy="1920240"/>
          </a:xfrm>
          <a:prstGeom prst="roundRect">
            <a:avLst>
              <a:gd name="adj" fmla="val 4762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240280"/>
            <a:ext cx="64008" cy="164592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7627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(backend and AI pipeline)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JavaScript, HTML and CSS (dashboard)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2103120"/>
            <a:ext cx="5486400" cy="1920240"/>
          </a:xfrm>
          <a:prstGeom prst="roundRect">
            <a:avLst>
              <a:gd name="adj" fmla="val 4762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2240280"/>
            <a:ext cx="64008" cy="164592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217627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Vision Models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6517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(Ultralytics) for detection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for tracking, MiDaS for depth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for lane detection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86400" cy="1920240"/>
          </a:xfrm>
          <a:prstGeom prst="roundRect">
            <a:avLst>
              <a:gd name="adj" fmla="val 4762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297680"/>
            <a:ext cx="64008" cy="164592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23367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/ Software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7091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with MJPEG stream and Server-Sent Events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and Canvas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17920" y="4160520"/>
            <a:ext cx="5486400" cy="1920240"/>
          </a:xfrm>
          <a:prstGeom prst="roundRect">
            <a:avLst>
              <a:gd name="adj" fmla="val 4762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4297680"/>
            <a:ext cx="64008" cy="164592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423367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Input Sources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7091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GPU or CPU (GPU recommended)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camera: video file, webcam or RTSP stream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on a CPU-only machine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 / Result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09928"/>
            <a:ext cx="1097280" cy="4572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05740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03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achieves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 and tracking of road users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and TTC from a single camera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Four-level collision risk and lane-departure alerts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with event log and CSV export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205740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2103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56032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Monocular distance is an estimate, not ground truth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detection may struggle at night, in rain or with faded markings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 machines run slower; GPU recommended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205740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2103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56032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 lane model (LaneNet, UFLD)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Traffic-sign and traffic-light recognition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calibration for metric distances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or LiDAR fusion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 (Jetson, Raspberry Pi)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11094415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E8C8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5029200"/>
            <a:ext cx="10637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SafePilot shows that a single camera, open-source AI models and a web dashboard are enough for a practical ADAS prototype. It is low-cost, interactive and extensible.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 / Result: Dashboard Screenshots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09928"/>
            <a:ext cx="1097280" cy="4572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pic>
        <p:nvPicPr>
          <p:cNvPr id="4" name="Image 0" descr="/home/claude/shot_ma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0"/>
            <a:ext cx="6309360" cy="295501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2011680"/>
            <a:ext cx="6309360" cy="2955017"/>
          </a:xfrm>
          <a:prstGeom prst="rect">
            <a:avLst/>
          </a:prstGeom>
          <a:ln w="12700">
            <a:solidFill>
              <a:srgbClr val="C9D3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994129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1: Live detection, threat level, KPI cards and lane keeping</a:t>
            </a:r>
            <a:endParaRPr lang="en-US" sz="1200" dirty="0"/>
          </a:p>
        </p:txBody>
      </p:sp>
      <p:pic>
        <p:nvPicPr>
          <p:cNvPr id="7" name="Image 1" descr="/home/claude/shot_bev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2011680"/>
            <a:ext cx="4599432" cy="15036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040880" y="2011680"/>
            <a:ext cx="4599432" cy="1503660"/>
          </a:xfrm>
          <a:prstGeom prst="rect">
            <a:avLst/>
          </a:prstGeom>
          <a:ln w="12700">
            <a:solidFill>
              <a:srgbClr val="C9D3D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040880" y="3542772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2: Bird's-eye view, depth map and 3D point cloud</a:t>
            </a:r>
            <a:endParaRPr lang="en-US" sz="1200" dirty="0"/>
          </a:p>
        </p:txBody>
      </p:sp>
      <p:pic>
        <p:nvPicPr>
          <p:cNvPr id="10" name="Image 2" descr="/home/claude/shot_chart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3926820"/>
            <a:ext cx="4599432" cy="209333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040880" y="3926820"/>
            <a:ext cx="4599432" cy="2093331"/>
          </a:xfrm>
          <a:prstGeom prst="rect">
            <a:avLst/>
          </a:prstGeom>
          <a:ln w="12700">
            <a:solidFill>
              <a:srgbClr val="C9D3DE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040880" y="6047584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3: Live charts, tracked objects and event log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5423897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in a demo run on CPU: about 5 FPS, latency 100–320 ms (test video).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09928"/>
            <a:ext cx="1097280" cy="4572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011680"/>
            <a:ext cx="6309360" cy="3657600"/>
          </a:xfrm>
          <a:prstGeom prst="roundRect">
            <a:avLst>
              <a:gd name="adj" fmla="val 2500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48840"/>
            <a:ext cx="64008" cy="338328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2011680"/>
            <a:ext cx="4599432" cy="3657600"/>
          </a:xfrm>
          <a:prstGeom prst="roundRect">
            <a:avLst>
              <a:gd name="adj" fmla="val 2500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0" y="2148840"/>
            <a:ext cx="64008" cy="338328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6654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87168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Y. Zhang et al., "ByteTrack: Multi-Object Tracking by Associating Every Detection Box," European Conference on Computer Vision (ECCV), 2022. </a:t>
            </a:r>
            <a:r>
              <a:rPr lang="en-US" sz="1400" u="sng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https://arxiv.org/abs/2110.06864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Ranftl, K. Lasinger, D. Hafner, K. Schindler and V. Koltun, "Towards Robust Monocular Depth Estimation: Mixing Datasets for Zero-shot Cross-dataset Transfer," arXiv:1907.01341. </a:t>
            </a:r>
            <a:r>
              <a:rPr lang="en-US" sz="1400" u="sng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https://arxiv.org/abs/1907.01341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Canny, "A Computational Approach to Edge Detection," IEEE Trans. Pattern Analysis and Machine Intelligence, vol. 8, no. 6, 1986. </a:t>
            </a:r>
            <a:r>
              <a:rPr lang="en-US" sz="1400" u="sng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https://doi.org/10.1109/TPAMI.1986.4767851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269480" y="20665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and Documentation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2487168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Jocher, A. Chaurasia and J. Qiu, "Ultralytics YOLOv8," 2023. </a:t>
            </a:r>
            <a:r>
              <a:rPr lang="en-US" sz="1400" u="sng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https://docs.ultralytics.com/models/yolov8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documentation. </a:t>
            </a:r>
            <a:r>
              <a:rPr lang="en-US" sz="1400" u="sng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https://docs.opencv.org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documentation. </a:t>
            </a:r>
            <a:r>
              <a:rPr lang="en-US" sz="1400" u="sng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https://flask.palletsprojects.com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PyTorch. </a:t>
            </a:r>
            <a:r>
              <a:rPr lang="en-US" sz="1400" u="sng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https://pytorch.org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Chart.js. </a:t>
            </a:r>
            <a:r>
              <a:rPr lang="en-US" sz="1400" u="sng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https://www.chartjs.org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repository. </a:t>
            </a:r>
            <a:r>
              <a:rPr lang="en-US" sz="1400" u="sng" dirty="0">
                <a:solidFill>
                  <a:srgbClr val="1F5FA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https://github.com/uday6725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6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682E55-FE30-8782-2187-078CE4CE9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402" y="1183906"/>
            <a:ext cx="10061608" cy="530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11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964</Words>
  <Application>Microsoft Office PowerPoint</Application>
  <PresentationFormat>Widescreen</PresentationFormat>
  <Paragraphs>156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Bus Tracking &amp; Notification System</dc:title>
  <dc:subject>PptxGenJS Presentation</dc:subject>
  <dc:creator>PptxGenJS</dc:creator>
  <cp:lastModifiedBy>Krushna Warule</cp:lastModifiedBy>
  <cp:revision>3</cp:revision>
  <dcterms:created xsi:type="dcterms:W3CDTF">2026-10-13T08:11:05Z</dcterms:created>
  <dcterms:modified xsi:type="dcterms:W3CDTF">2026-10-13T09:05:04Z</dcterms:modified>
</cp:coreProperties>
</file>